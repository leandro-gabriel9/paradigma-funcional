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RQND Pro UltraWide" charset="1" panose="00000500000000000000"/>
      <p:regular r:id="rId17"/>
    </p:embeddedFont>
    <p:embeddedFont>
      <p:font typeface="Open Sauce" charset="1" panose="00000500000000000000"/>
      <p:regular r:id="rId18"/>
    </p:embeddedFont>
    <p:embeddedFont>
      <p:font typeface="Open Sauce Bold" charset="1" panose="000008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9.jpeg" Type="http://schemas.openxmlformats.org/officeDocument/2006/relationships/image"/><Relationship Id="rId6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3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31347" y="4102202"/>
            <a:ext cx="5524882" cy="2082597"/>
          </a:xfrm>
          <a:custGeom>
            <a:avLst/>
            <a:gdLst/>
            <a:ahLst/>
            <a:cxnLst/>
            <a:rect r="r" b="b" t="t" l="l"/>
            <a:pathLst>
              <a:path h="2082597" w="5524882">
                <a:moveTo>
                  <a:pt x="0" y="0"/>
                </a:moveTo>
                <a:lnTo>
                  <a:pt x="5524882" y="0"/>
                </a:lnTo>
                <a:lnTo>
                  <a:pt x="5524882" y="2082596"/>
                </a:lnTo>
                <a:lnTo>
                  <a:pt x="0" y="20825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65288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2994465" y="4102202"/>
            <a:ext cx="5524882" cy="2082597"/>
          </a:xfrm>
          <a:custGeom>
            <a:avLst/>
            <a:gdLst/>
            <a:ahLst/>
            <a:cxnLst/>
            <a:rect r="r" b="b" t="t" l="l"/>
            <a:pathLst>
              <a:path h="2082597" w="5524882">
                <a:moveTo>
                  <a:pt x="5524882" y="0"/>
                </a:moveTo>
                <a:lnTo>
                  <a:pt x="0" y="0"/>
                </a:lnTo>
                <a:lnTo>
                  <a:pt x="0" y="2082596"/>
                </a:lnTo>
                <a:lnTo>
                  <a:pt x="5524882" y="2082596"/>
                </a:lnTo>
                <a:lnTo>
                  <a:pt x="552488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65288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8820518"/>
            <a:ext cx="3657600" cy="437782"/>
          </a:xfrm>
          <a:custGeom>
            <a:avLst/>
            <a:gdLst/>
            <a:ahLst/>
            <a:cxnLst/>
            <a:rect r="r" b="b" t="t" l="l"/>
            <a:pathLst>
              <a:path h="437782" w="3657600">
                <a:moveTo>
                  <a:pt x="0" y="0"/>
                </a:moveTo>
                <a:lnTo>
                  <a:pt x="3657600" y="0"/>
                </a:lnTo>
                <a:lnTo>
                  <a:pt x="3657600" y="437782"/>
                </a:lnTo>
                <a:lnTo>
                  <a:pt x="0" y="4377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4964258"/>
            <a:ext cx="517497" cy="358484"/>
          </a:xfrm>
          <a:custGeom>
            <a:avLst/>
            <a:gdLst/>
            <a:ahLst/>
            <a:cxnLst/>
            <a:rect r="r" b="b" t="t" l="l"/>
            <a:pathLst>
              <a:path h="358484" w="517497">
                <a:moveTo>
                  <a:pt x="0" y="0"/>
                </a:moveTo>
                <a:lnTo>
                  <a:pt x="517497" y="0"/>
                </a:lnTo>
                <a:lnTo>
                  <a:pt x="517497" y="358484"/>
                </a:lnTo>
                <a:lnTo>
                  <a:pt x="0" y="3584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763191" y="2580480"/>
            <a:ext cx="10619000" cy="4596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04"/>
              </a:lnSpc>
              <a:spcBef>
                <a:spcPct val="0"/>
              </a:spcBef>
            </a:pPr>
            <a:r>
              <a:rPr lang="en-US" sz="8717">
                <a:solidFill>
                  <a:srgbClr val="5CE1E6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PARADIGMA FUNCIONAL EN PYTHON</a:t>
            </a:r>
          </a:p>
        </p:txBody>
      </p:sp>
      <p:sp>
        <p:nvSpPr>
          <p:cNvPr name="Freeform 8" id="8"/>
          <p:cNvSpPr/>
          <p:nvPr/>
        </p:nvSpPr>
        <p:spPr>
          <a:xfrm flipH="true" flipV="false" rot="0">
            <a:off x="16741803" y="4964258"/>
            <a:ext cx="517497" cy="358484"/>
          </a:xfrm>
          <a:custGeom>
            <a:avLst/>
            <a:gdLst/>
            <a:ahLst/>
            <a:cxnLst/>
            <a:rect r="r" b="b" t="t" l="l"/>
            <a:pathLst>
              <a:path h="358484" w="517497">
                <a:moveTo>
                  <a:pt x="517497" y="0"/>
                </a:moveTo>
                <a:lnTo>
                  <a:pt x="0" y="0"/>
                </a:lnTo>
                <a:lnTo>
                  <a:pt x="0" y="358484"/>
                </a:lnTo>
                <a:lnTo>
                  <a:pt x="517497" y="358484"/>
                </a:lnTo>
                <a:lnTo>
                  <a:pt x="517497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303527" y="703497"/>
            <a:ext cx="1538328" cy="953417"/>
          </a:xfrm>
          <a:custGeom>
            <a:avLst/>
            <a:gdLst/>
            <a:ahLst/>
            <a:cxnLst/>
            <a:rect r="r" b="b" t="t" l="l"/>
            <a:pathLst>
              <a:path h="953417" w="1538328">
                <a:moveTo>
                  <a:pt x="0" y="0"/>
                </a:moveTo>
                <a:lnTo>
                  <a:pt x="1538328" y="0"/>
                </a:lnTo>
                <a:lnTo>
                  <a:pt x="1538328" y="953417"/>
                </a:lnTo>
                <a:lnTo>
                  <a:pt x="0" y="95341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90000"/>
            </a:blip>
            <a:stretch>
              <a:fillRect l="0" t="0" r="0" b="-61348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821510" y="1609289"/>
            <a:ext cx="2644981" cy="434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80"/>
              </a:lnSpc>
              <a:spcBef>
                <a:spcPct val="0"/>
              </a:spcBef>
            </a:pPr>
            <a:r>
              <a:rPr lang="en-US" sz="2629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UPA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088603" y="8147234"/>
            <a:ext cx="5336607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</a:p>
          <a:p>
            <a:pPr algn="ctr">
              <a:lnSpc>
                <a:spcPts val="3499"/>
              </a:lnSpc>
            </a:pPr>
            <a:r>
              <a:rPr lang="en-US" sz="2499" spc="-7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Universidad Patagonia Argentina</a:t>
            </a:r>
          </a:p>
          <a:p>
            <a:pPr algn="ctr">
              <a:lnSpc>
                <a:spcPts val="3499"/>
              </a:lnSpc>
            </a:pPr>
            <a:r>
              <a:rPr lang="en-US" sz="2499" spc="-7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Integrantes: Leandro y Vania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spc="-7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Lenguaje utilizado: Python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1989" y="750885"/>
            <a:ext cx="1353423" cy="802634"/>
          </a:xfrm>
          <a:custGeom>
            <a:avLst/>
            <a:gdLst/>
            <a:ahLst/>
            <a:cxnLst/>
            <a:rect r="r" b="b" t="t" l="l"/>
            <a:pathLst>
              <a:path h="802634" w="1353423">
                <a:moveTo>
                  <a:pt x="0" y="0"/>
                </a:moveTo>
                <a:lnTo>
                  <a:pt x="1353422" y="0"/>
                </a:lnTo>
                <a:lnTo>
                  <a:pt x="1353422" y="802634"/>
                </a:lnTo>
                <a:lnTo>
                  <a:pt x="0" y="8026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68622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252205" y="1684187"/>
            <a:ext cx="9783589" cy="2125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80"/>
              </a:lnSpc>
              <a:spcBef>
                <a:spcPct val="0"/>
              </a:spcBef>
            </a:pPr>
            <a:r>
              <a:rPr lang="en-US" sz="6128">
                <a:solidFill>
                  <a:srgbClr val="5CE1E6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TRABAJO PRÁCTICO – PROGRAMACIÓN 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36310" y="981075"/>
            <a:ext cx="2644981" cy="447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0"/>
              </a:lnSpc>
              <a:spcBef>
                <a:spcPct val="0"/>
              </a:spcBef>
            </a:pPr>
            <a:r>
              <a:rPr lang="en-US" sz="2629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Upa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854391" y="3781039"/>
            <a:ext cx="10579218" cy="3434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9"/>
              </a:lnSpc>
            </a:pPr>
          </a:p>
          <a:p>
            <a:pPr algn="ctr">
              <a:lnSpc>
                <a:spcPts val="3979"/>
              </a:lnSpc>
            </a:pPr>
            <a:r>
              <a:rPr lang="en-US" sz="3061" spc="-9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Este trabajo tiene como objetivo comprender los principios del paradigma funcional de programación y cómo pueden aplicarse en Python. A través de ejemplos simples, se busca mostrar cómo este enfoque ayuda a escribir código más claro, predecible y fácil de mantener.</a:t>
            </a:r>
          </a:p>
          <a:p>
            <a:pPr algn="ctr">
              <a:lnSpc>
                <a:spcPts val="397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3140190" y="996309"/>
            <a:ext cx="95364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  <a:spcBef>
                <a:spcPct val="0"/>
              </a:spcBef>
            </a:pPr>
            <a:r>
              <a:rPr lang="en-US" b="true" sz="1599" spc="-47">
                <a:solidFill>
                  <a:srgbClr val="5CE1E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Home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433609" y="996309"/>
            <a:ext cx="124295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Services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016343" y="996309"/>
            <a:ext cx="124295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About Us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730759" y="1750435"/>
            <a:ext cx="3907063" cy="467641"/>
          </a:xfrm>
          <a:custGeom>
            <a:avLst/>
            <a:gdLst/>
            <a:ahLst/>
            <a:cxnLst/>
            <a:rect r="r" b="b" t="t" l="l"/>
            <a:pathLst>
              <a:path h="467641" w="3907063">
                <a:moveTo>
                  <a:pt x="0" y="0"/>
                </a:moveTo>
                <a:lnTo>
                  <a:pt x="3907062" y="0"/>
                </a:lnTo>
                <a:lnTo>
                  <a:pt x="3907062" y="467641"/>
                </a:lnTo>
                <a:lnTo>
                  <a:pt x="0" y="4676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86464" y="667196"/>
            <a:ext cx="1169776" cy="734427"/>
          </a:xfrm>
          <a:custGeom>
            <a:avLst/>
            <a:gdLst/>
            <a:ahLst/>
            <a:cxnLst/>
            <a:rect r="r" b="b" t="t" l="l"/>
            <a:pathLst>
              <a:path h="734427" w="1169776">
                <a:moveTo>
                  <a:pt x="0" y="0"/>
                </a:moveTo>
                <a:lnTo>
                  <a:pt x="1169775" y="0"/>
                </a:lnTo>
                <a:lnTo>
                  <a:pt x="1169775" y="734427"/>
                </a:lnTo>
                <a:lnTo>
                  <a:pt x="0" y="7344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59277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86464" y="1854189"/>
            <a:ext cx="9144000" cy="1966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8"/>
              </a:lnSpc>
            </a:pPr>
            <a:r>
              <a:rPr lang="en-US" sz="7113">
                <a:solidFill>
                  <a:srgbClr val="5CE1E6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¿QUÉ ES LA PROGRAMACIÓN FUNCIONAL?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36310" y="981075"/>
            <a:ext cx="2644981" cy="447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0"/>
              </a:lnSpc>
              <a:spcBef>
                <a:spcPct val="0"/>
              </a:spcBef>
            </a:pPr>
            <a:r>
              <a:rPr lang="en-US" sz="2629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UPA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41532" y="4138369"/>
            <a:ext cx="9188932" cy="7915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 spc="-6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La programación funcional es un paradigma que se basa en el uso de funciones puras y la ausencia de cambios de estado.</a:t>
            </a:r>
          </a:p>
          <a:p>
            <a:pPr algn="l">
              <a:lnSpc>
                <a:spcPts val="2730"/>
              </a:lnSpc>
            </a:pPr>
            <a:r>
              <a:rPr lang="en-US" sz="2100" spc="-6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En lugar de centrarse en cómo se hacen las cosas (como en el paradigma imperativo), se enfoca en qué se quiere lograr.</a:t>
            </a:r>
          </a:p>
          <a:p>
            <a:pPr algn="l">
              <a:lnSpc>
                <a:spcPts val="2730"/>
              </a:lnSpc>
            </a:pPr>
            <a:r>
              <a:rPr lang="en-US" sz="2100" spc="-6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Principios clave:</a:t>
            </a:r>
          </a:p>
          <a:p>
            <a:pPr algn="l">
              <a:lnSpc>
                <a:spcPts val="2730"/>
              </a:lnSpc>
            </a:pPr>
            <a:r>
              <a:rPr lang="en-US" sz="2100" spc="-6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Se basa en funciones puras, que no dependen de estados externos.</a:t>
            </a:r>
          </a:p>
          <a:p>
            <a:pPr algn="l">
              <a:lnSpc>
                <a:spcPts val="2730"/>
              </a:lnSpc>
            </a:pPr>
            <a:r>
              <a:rPr lang="en-US" sz="2100" spc="-6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Evita modificar variables o estructuras de datos existentes (usa inmutabilidad).</a:t>
            </a:r>
          </a:p>
          <a:p>
            <a:pPr algn="l">
              <a:lnSpc>
                <a:spcPts val="2730"/>
              </a:lnSpc>
            </a:pPr>
            <a:r>
              <a:rPr lang="en-US" sz="2100" spc="-6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Favorece la composición y reutilización de funciones.</a:t>
            </a:r>
          </a:p>
          <a:p>
            <a:pPr algn="l">
              <a:lnSpc>
                <a:spcPts val="2730"/>
              </a:lnSpc>
            </a:pPr>
            <a:r>
              <a:rPr lang="en-US" sz="2100" spc="-6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Trata a las funciones como ciudadanos de primera clase (pueden pasarse como argumentos, devolverse como valores, etc.).</a:t>
            </a:r>
          </a:p>
          <a:p>
            <a:pPr algn="l">
              <a:lnSpc>
                <a:spcPts val="2730"/>
              </a:lnSpc>
            </a:pPr>
          </a:p>
          <a:p>
            <a:pPr algn="l">
              <a:lnSpc>
                <a:spcPts val="2730"/>
              </a:lnSpc>
            </a:pPr>
            <a:r>
              <a:rPr lang="en-US" sz="2100" spc="-6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Usa estructuras inmutables para evitar efectos secundarios.</a:t>
            </a:r>
          </a:p>
          <a:p>
            <a:pPr algn="l">
              <a:lnSpc>
                <a:spcPts val="2730"/>
              </a:lnSpc>
            </a:pPr>
          </a:p>
          <a:p>
            <a:pPr algn="l">
              <a:lnSpc>
                <a:spcPts val="2730"/>
              </a:lnSpc>
            </a:pPr>
          </a:p>
          <a:p>
            <a:pPr algn="l">
              <a:lnSpc>
                <a:spcPts val="2730"/>
              </a:lnSpc>
            </a:pPr>
          </a:p>
          <a:p>
            <a:pPr algn="l">
              <a:lnSpc>
                <a:spcPts val="2730"/>
              </a:lnSpc>
            </a:pPr>
          </a:p>
          <a:p>
            <a:pPr algn="l">
              <a:lnSpc>
                <a:spcPts val="2730"/>
              </a:lnSpc>
            </a:pPr>
          </a:p>
          <a:p>
            <a:pPr algn="l">
              <a:lnSpc>
                <a:spcPts val="2730"/>
              </a:lnSpc>
            </a:pPr>
          </a:p>
          <a:p>
            <a:pPr algn="l">
              <a:lnSpc>
                <a:spcPts val="2730"/>
              </a:lnSpc>
            </a:pPr>
          </a:p>
          <a:p>
            <a:pPr algn="l">
              <a:lnSpc>
                <a:spcPts val="2730"/>
              </a:lnSpc>
            </a:pPr>
          </a:p>
          <a:p>
            <a:pPr algn="l">
              <a:lnSpc>
                <a:spcPts val="2730"/>
              </a:lnSpc>
            </a:pPr>
          </a:p>
          <a:p>
            <a:pPr algn="l">
              <a:lnSpc>
                <a:spcPts val="273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3140190" y="996309"/>
            <a:ext cx="95364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  <a:spcBef>
                <a:spcPct val="0"/>
              </a:spcBef>
            </a:pPr>
            <a:r>
              <a:rPr lang="en-US" b="true" sz="1599" spc="-47">
                <a:solidFill>
                  <a:srgbClr val="5CE1E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Home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433609" y="996309"/>
            <a:ext cx="124295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Services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016343" y="996309"/>
            <a:ext cx="124295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About Us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79415" y="4109794"/>
            <a:ext cx="7628836" cy="6168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sz="4400" spc="-132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Principios clave:</a:t>
            </a:r>
          </a:p>
          <a:p>
            <a:pPr algn="l">
              <a:lnSpc>
                <a:spcPts val="2916"/>
              </a:lnSpc>
            </a:pPr>
          </a:p>
          <a:p>
            <a:pPr algn="l">
              <a:lnSpc>
                <a:spcPts val="2916"/>
              </a:lnSpc>
            </a:pPr>
            <a:r>
              <a:rPr lang="en-US" sz="2243" spc="-6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Se basa en funciones puras, que no dependen de estados externos.</a:t>
            </a:r>
          </a:p>
          <a:p>
            <a:pPr algn="l">
              <a:lnSpc>
                <a:spcPts val="2916"/>
              </a:lnSpc>
            </a:pPr>
          </a:p>
          <a:p>
            <a:pPr algn="l">
              <a:lnSpc>
                <a:spcPts val="2916"/>
              </a:lnSpc>
            </a:pPr>
            <a:r>
              <a:rPr lang="en-US" sz="2243" spc="-6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Evita modificar variables o estructuras de datos existentes (usa inmutabilidad).</a:t>
            </a:r>
          </a:p>
          <a:p>
            <a:pPr algn="l">
              <a:lnSpc>
                <a:spcPts val="2916"/>
              </a:lnSpc>
            </a:pPr>
          </a:p>
          <a:p>
            <a:pPr algn="l">
              <a:lnSpc>
                <a:spcPts val="2916"/>
              </a:lnSpc>
            </a:pPr>
            <a:r>
              <a:rPr lang="en-US" sz="2243" spc="-6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Favorece la composición y reutilización de funciones.</a:t>
            </a:r>
          </a:p>
          <a:p>
            <a:pPr algn="l">
              <a:lnSpc>
                <a:spcPts val="2916"/>
              </a:lnSpc>
            </a:pPr>
          </a:p>
          <a:p>
            <a:pPr algn="l">
              <a:lnSpc>
                <a:spcPts val="2916"/>
              </a:lnSpc>
            </a:pPr>
            <a:r>
              <a:rPr lang="en-US" sz="2243" spc="-6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Trata a las funciones como ciudadanos de primera clase (pueden pasarse como argumentos, devolverse como valores, etc.).</a:t>
            </a:r>
          </a:p>
          <a:p>
            <a:pPr algn="l">
              <a:lnSpc>
                <a:spcPts val="2916"/>
              </a:lnSpc>
            </a:pPr>
          </a:p>
          <a:p>
            <a:pPr algn="l">
              <a:lnSpc>
                <a:spcPts val="2916"/>
              </a:lnSpc>
            </a:pPr>
            <a:r>
              <a:rPr lang="en-US" sz="2243" spc="-6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Usa estructuras inmutables para evitar efectos secundarios.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8215" y="3026198"/>
            <a:ext cx="3657600" cy="437782"/>
          </a:xfrm>
          <a:custGeom>
            <a:avLst/>
            <a:gdLst/>
            <a:ahLst/>
            <a:cxnLst/>
            <a:rect r="r" b="b" t="t" l="l"/>
            <a:pathLst>
              <a:path h="437782" w="3657600">
                <a:moveTo>
                  <a:pt x="0" y="0"/>
                </a:moveTo>
                <a:lnTo>
                  <a:pt x="3657600" y="0"/>
                </a:lnTo>
                <a:lnTo>
                  <a:pt x="3657600" y="437782"/>
                </a:lnTo>
                <a:lnTo>
                  <a:pt x="0" y="4377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34620" y="1514787"/>
            <a:ext cx="6493240" cy="1661478"/>
          </a:xfrm>
          <a:custGeom>
            <a:avLst/>
            <a:gdLst/>
            <a:ahLst/>
            <a:cxnLst/>
            <a:rect r="r" b="b" t="t" l="l"/>
            <a:pathLst>
              <a:path h="1661478" w="6493240">
                <a:moveTo>
                  <a:pt x="0" y="0"/>
                </a:moveTo>
                <a:lnTo>
                  <a:pt x="6493240" y="0"/>
                </a:lnTo>
                <a:lnTo>
                  <a:pt x="6493240" y="1661478"/>
                </a:lnTo>
                <a:lnTo>
                  <a:pt x="0" y="16614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10892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67455" y="620749"/>
            <a:ext cx="1322490" cy="815901"/>
          </a:xfrm>
          <a:custGeom>
            <a:avLst/>
            <a:gdLst/>
            <a:ahLst/>
            <a:cxnLst/>
            <a:rect r="r" b="b" t="t" l="l"/>
            <a:pathLst>
              <a:path h="815901" w="1322490">
                <a:moveTo>
                  <a:pt x="0" y="0"/>
                </a:moveTo>
                <a:lnTo>
                  <a:pt x="1322490" y="0"/>
                </a:lnTo>
                <a:lnTo>
                  <a:pt x="1322490" y="815902"/>
                </a:lnTo>
                <a:lnTo>
                  <a:pt x="0" y="8159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62089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7858705"/>
            <a:ext cx="7724783" cy="1546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3"/>
              </a:lnSpc>
            </a:pPr>
            <a:r>
              <a:rPr lang="en-US" sz="8136">
                <a:solidFill>
                  <a:srgbClr val="5CE1E6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FUNCIONES PURAS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36310" y="981075"/>
            <a:ext cx="2644981" cy="447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0"/>
              </a:lnSpc>
              <a:spcBef>
                <a:spcPct val="0"/>
              </a:spcBef>
            </a:pPr>
            <a:r>
              <a:rPr lang="en-US" sz="2629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UPA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34620" y="4940113"/>
            <a:ext cx="5789358" cy="4792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9"/>
              </a:lnSpc>
            </a:pPr>
            <a:r>
              <a:rPr lang="en-US" sz="1745" spc="-5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Ventajas:</a:t>
            </a:r>
          </a:p>
          <a:p>
            <a:pPr algn="l">
              <a:lnSpc>
                <a:spcPts val="2269"/>
              </a:lnSpc>
            </a:pPr>
            <a:r>
              <a:rPr lang="en-US" sz="1745" spc="-5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Código más predecible y fácil de probar.</a:t>
            </a:r>
          </a:p>
          <a:p>
            <a:pPr algn="l">
              <a:lnSpc>
                <a:spcPts val="2269"/>
              </a:lnSpc>
            </a:pPr>
            <a:r>
              <a:rPr lang="en-US" sz="1745" spc="-5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Facilita la reutilización y composición de funciones.</a:t>
            </a:r>
          </a:p>
          <a:p>
            <a:pPr algn="l">
              <a:lnSpc>
                <a:spcPts val="2269"/>
              </a:lnSpc>
            </a:pPr>
            <a:r>
              <a:rPr lang="en-US" sz="1745" spc="-5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Mejora la legibilidad y reduce errores.</a:t>
            </a:r>
          </a:p>
          <a:p>
            <a:pPr algn="l">
              <a:lnSpc>
                <a:spcPts val="2269"/>
              </a:lnSpc>
            </a:pPr>
          </a:p>
          <a:p>
            <a:pPr algn="l">
              <a:lnSpc>
                <a:spcPts val="2269"/>
              </a:lnSpc>
            </a:pPr>
            <a:r>
              <a:rPr lang="en-US" sz="1745" spc="-5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Desventajas: </a:t>
            </a:r>
          </a:p>
          <a:p>
            <a:pPr algn="l">
              <a:lnSpc>
                <a:spcPts val="2269"/>
              </a:lnSpc>
            </a:pPr>
            <a:r>
              <a:rPr lang="en-US" sz="1745" spc="-5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Puede resultar menos intuitivo para principiantes.</a:t>
            </a:r>
          </a:p>
          <a:p>
            <a:pPr algn="l">
              <a:lnSpc>
                <a:spcPts val="2269"/>
              </a:lnSpc>
            </a:pPr>
            <a:r>
              <a:rPr lang="en-US" sz="1745" spc="-5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No siempre es la opción más eficiente cuando se necesita modificar mucho estado mutable.</a:t>
            </a:r>
          </a:p>
          <a:p>
            <a:pPr algn="l">
              <a:lnSpc>
                <a:spcPts val="2269"/>
              </a:lnSpc>
            </a:pPr>
          </a:p>
          <a:p>
            <a:pPr algn="l">
              <a:lnSpc>
                <a:spcPts val="2269"/>
              </a:lnSpc>
            </a:pPr>
            <a:r>
              <a:rPr lang="en-US" sz="1745" spc="-5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745" spc="-5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Comparación entre paradigmas:</a:t>
            </a:r>
          </a:p>
          <a:p>
            <a:pPr algn="l">
              <a:lnSpc>
                <a:spcPts val="2269"/>
              </a:lnSpc>
            </a:pPr>
            <a:r>
              <a:rPr lang="en-US" sz="1745" spc="-5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Paradigma	Enfoque	Característica  </a:t>
            </a:r>
          </a:p>
          <a:p>
            <a:pPr algn="l">
              <a:lnSpc>
                <a:spcPts val="2269"/>
              </a:lnSpc>
            </a:pPr>
            <a:r>
              <a:rPr lang="en-US" sz="1745" spc="-5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Imperativo	Cómo hacerlo (paso a paso)	Modifica estado</a:t>
            </a:r>
          </a:p>
          <a:p>
            <a:pPr algn="l">
              <a:lnSpc>
                <a:spcPts val="2269"/>
              </a:lnSpc>
            </a:pPr>
            <a:r>
              <a:rPr lang="en-US" sz="1745" spc="-5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Funcional	Qué lograr (declarativo)	Evita estado</a:t>
            </a:r>
          </a:p>
          <a:p>
            <a:pPr algn="l">
              <a:lnSpc>
                <a:spcPts val="2269"/>
              </a:lnSpc>
            </a:pPr>
            <a:r>
              <a:rPr lang="en-US" sz="1745" spc="-5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OOP	Objetos con estado y comportamiento	Encapsula datos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655757" y="3701228"/>
            <a:ext cx="4603543" cy="886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 spc="-78">
                <a:solidFill>
                  <a:srgbClr val="5CE1E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comparación con los otros paradigmas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268028" y="1880683"/>
            <a:ext cx="3937801" cy="453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000" spc="-6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Una función pura es aquella que siempre devuelve el mismo resultado para los mismos argumentos y no modifica el estado externo.</a:t>
            </a:r>
          </a:p>
          <a:p>
            <a:pPr algn="l">
              <a:lnSpc>
                <a:spcPts val="2600"/>
              </a:lnSpc>
            </a:pPr>
            <a:r>
              <a:rPr lang="en-US" sz="2000" spc="-6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Una función pura:</a:t>
            </a:r>
          </a:p>
          <a:p>
            <a:pPr algn="l">
              <a:lnSpc>
                <a:spcPts val="2600"/>
              </a:lnSpc>
            </a:pPr>
            <a:r>
              <a:rPr lang="en-US" sz="2000" spc="-6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No tiene efectos secundarios (no cambia variables externas, archivos, ni imprime en pantalla).</a:t>
            </a:r>
          </a:p>
          <a:p>
            <a:pPr algn="l">
              <a:lnSpc>
                <a:spcPts val="2600"/>
              </a:lnSpc>
            </a:pPr>
            <a:r>
              <a:rPr lang="en-US" sz="2000" spc="-6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No depende de información fuera de sus parámetros.</a:t>
            </a:r>
          </a:p>
          <a:p>
            <a:pPr algn="l">
              <a:lnSpc>
                <a:spcPts val="2600"/>
              </a:lnSpc>
            </a:pPr>
            <a:r>
              <a:rPr lang="en-US" sz="2000" spc="-6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Produce resultados predecibles y consistentes.</a:t>
            </a:r>
          </a:p>
          <a:p>
            <a:pPr algn="l">
              <a:lnSpc>
                <a:spcPts val="260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6268028" y="751517"/>
            <a:ext cx="2904694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 spc="-65">
                <a:solidFill>
                  <a:srgbClr val="5CE1E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concepto 1  funciones puras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370274" y="450527"/>
            <a:ext cx="3174508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60">
                <a:solidFill>
                  <a:srgbClr val="5CE1E6"/>
                </a:solidFill>
                <a:latin typeface="Open Sauce"/>
                <a:ea typeface="Open Sauce"/>
                <a:cs typeface="Open Sauce"/>
                <a:sym typeface="Open Sauce"/>
              </a:rPr>
              <a:t>Ejemplo práctico en Python (funciones puras)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98800" y="2650144"/>
            <a:ext cx="3657600" cy="437782"/>
          </a:xfrm>
          <a:custGeom>
            <a:avLst/>
            <a:gdLst/>
            <a:ahLst/>
            <a:cxnLst/>
            <a:rect r="r" b="b" t="t" l="l"/>
            <a:pathLst>
              <a:path h="437782" w="3657600">
                <a:moveTo>
                  <a:pt x="0" y="0"/>
                </a:moveTo>
                <a:lnTo>
                  <a:pt x="3657600" y="0"/>
                </a:lnTo>
                <a:lnTo>
                  <a:pt x="3657600" y="437782"/>
                </a:lnTo>
                <a:lnTo>
                  <a:pt x="0" y="4377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62998" y="813952"/>
            <a:ext cx="1131405" cy="676500"/>
          </a:xfrm>
          <a:custGeom>
            <a:avLst/>
            <a:gdLst/>
            <a:ahLst/>
            <a:cxnLst/>
            <a:rect r="r" b="b" t="t" l="l"/>
            <a:pathLst>
              <a:path h="676500" w="1131405">
                <a:moveTo>
                  <a:pt x="0" y="0"/>
                </a:moveTo>
                <a:lnTo>
                  <a:pt x="1131404" y="0"/>
                </a:lnTo>
                <a:lnTo>
                  <a:pt x="1131404" y="676500"/>
                </a:lnTo>
                <a:lnTo>
                  <a:pt x="0" y="6765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67243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525237" y="633739"/>
            <a:ext cx="9908372" cy="655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7"/>
              </a:lnSpc>
            </a:pPr>
            <a:r>
              <a:rPr lang="en-US" sz="6300">
                <a:solidFill>
                  <a:srgbClr val="5CE1E6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INMUTABILIDAD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36310" y="981075"/>
            <a:ext cx="2644981" cy="447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0"/>
              </a:lnSpc>
              <a:spcBef>
                <a:spcPct val="0"/>
              </a:spcBef>
            </a:pPr>
            <a:r>
              <a:rPr lang="en-US" sz="2629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UPA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433609" y="996309"/>
            <a:ext cx="124295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Services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016343" y="996309"/>
            <a:ext cx="124295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About Us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57137" y="4407768"/>
            <a:ext cx="6540103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spc="-9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Comparación entre paradigmas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08979" y="1452352"/>
            <a:ext cx="9518209" cy="320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 spc="-8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La inmutabilidad significa que, una vez creado, un valor no puede ser modificado.</a:t>
            </a:r>
          </a:p>
          <a:p>
            <a:pPr algn="l">
              <a:lnSpc>
                <a:spcPts val="3639"/>
              </a:lnSpc>
            </a:pPr>
            <a:r>
              <a:rPr lang="en-US" sz="2799" spc="-8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En la programación funcional, esto evita efectos secundarios y facilita el razonamiento sobre el comportamiento del programa.ifica que, una vez creado, un valor no puede ser modificado.</a:t>
            </a:r>
          </a:p>
          <a:p>
            <a:pPr algn="l">
              <a:lnSpc>
                <a:spcPts val="363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27026" y="5078963"/>
            <a:ext cx="7801791" cy="2167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0"/>
              </a:lnSpc>
            </a:pPr>
          </a:p>
          <a:p>
            <a:pPr algn="l">
              <a:lnSpc>
                <a:spcPts val="4290"/>
              </a:lnSpc>
            </a:pPr>
            <a:r>
              <a:rPr lang="en-US" sz="3300" spc="-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Tipos inmutables: int, float, str, tuple</a:t>
            </a:r>
          </a:p>
          <a:p>
            <a:pPr algn="l">
              <a:lnSpc>
                <a:spcPts val="4290"/>
              </a:lnSpc>
            </a:pPr>
            <a:r>
              <a:rPr lang="en-US" sz="3300" spc="-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Tipos mutables: list, dict, set</a:t>
            </a:r>
          </a:p>
          <a:p>
            <a:pPr algn="l">
              <a:lnSpc>
                <a:spcPts val="429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7026" y="4721458"/>
            <a:ext cx="4748808" cy="705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0"/>
              </a:lnSpc>
              <a:spcBef>
                <a:spcPct val="0"/>
              </a:spcBef>
            </a:pPr>
            <a:r>
              <a:rPr lang="en-US" sz="4100" spc="-12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Ejemplo en Python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473963" y="5098013"/>
            <a:ext cx="9814037" cy="7592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9"/>
              </a:lnSpc>
            </a:pPr>
            <a:r>
              <a:rPr lang="en-US" sz="2199" spc="-6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Funcional: fomenta la inmutabilidad para evitar errores y efectos colaterales.</a:t>
            </a:r>
          </a:p>
          <a:p>
            <a:pPr algn="ctr">
              <a:lnSpc>
                <a:spcPts val="2859"/>
              </a:lnSpc>
            </a:pPr>
            <a:r>
              <a:rPr lang="en-US" sz="2199" spc="-6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Imperativo: modifica el estado directamente (puede causar errores si no se controla).</a:t>
            </a:r>
          </a:p>
          <a:p>
            <a:pPr algn="ctr">
              <a:lnSpc>
                <a:spcPts val="2859"/>
              </a:lnSpc>
            </a:pPr>
            <a:r>
              <a:rPr lang="en-US" sz="2199" spc="-6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Orientado a objetos: encapsula el estado mutable dentro de los objetos.</a:t>
            </a:r>
          </a:p>
          <a:p>
            <a:pPr algn="ctr">
              <a:lnSpc>
                <a:spcPts val="2859"/>
              </a:lnSpc>
            </a:pPr>
          </a:p>
          <a:p>
            <a:pPr algn="ctr">
              <a:lnSpc>
                <a:spcPts val="2859"/>
              </a:lnSpc>
            </a:pPr>
            <a:r>
              <a:rPr lang="en-US" sz="2199" spc="-6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¿Por qué importa?</a:t>
            </a:r>
          </a:p>
          <a:p>
            <a:pPr algn="ctr">
              <a:lnSpc>
                <a:spcPts val="2859"/>
              </a:lnSpc>
            </a:pPr>
            <a:r>
              <a:rPr lang="en-US" sz="2199" spc="-6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Permite escribir funciones puras.</a:t>
            </a:r>
          </a:p>
          <a:p>
            <a:pPr algn="ctr">
              <a:lnSpc>
                <a:spcPts val="2859"/>
              </a:lnSpc>
            </a:pPr>
            <a:r>
              <a:rPr lang="en-US" sz="2199" spc="-6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Facilita el paralelismo (menos conflictos de datos).</a:t>
            </a:r>
          </a:p>
          <a:p>
            <a:pPr algn="ctr">
              <a:lnSpc>
                <a:spcPts val="2859"/>
              </a:lnSpc>
            </a:pPr>
            <a:r>
              <a:rPr lang="en-US" sz="2199" spc="-6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Mejora la mantenibilidad y coherencia del código.</a:t>
            </a:r>
          </a:p>
          <a:p>
            <a:pPr algn="ctr">
              <a:lnSpc>
                <a:spcPts val="2859"/>
              </a:lnSpc>
            </a:pPr>
          </a:p>
          <a:p>
            <a:pPr algn="ctr">
              <a:lnSpc>
                <a:spcPts val="2859"/>
              </a:lnSpc>
            </a:pPr>
          </a:p>
          <a:p>
            <a:pPr algn="ctr">
              <a:lnSpc>
                <a:spcPts val="2859"/>
              </a:lnSpc>
            </a:pPr>
          </a:p>
          <a:p>
            <a:pPr algn="ctr">
              <a:lnSpc>
                <a:spcPts val="2859"/>
              </a:lnSpc>
            </a:pPr>
          </a:p>
          <a:p>
            <a:pPr algn="ctr">
              <a:lnSpc>
                <a:spcPts val="2859"/>
              </a:lnSpc>
            </a:pPr>
          </a:p>
          <a:p>
            <a:pPr algn="ctr">
              <a:lnSpc>
                <a:spcPts val="2859"/>
              </a:lnSpc>
            </a:pPr>
          </a:p>
          <a:p>
            <a:pPr algn="ctr">
              <a:lnSpc>
                <a:spcPts val="2859"/>
              </a:lnSpc>
            </a:pPr>
          </a:p>
          <a:p>
            <a:pPr algn="ctr">
              <a:lnSpc>
                <a:spcPts val="2859"/>
              </a:lnSpc>
            </a:pPr>
          </a:p>
          <a:p>
            <a:pPr algn="ctr">
              <a:lnSpc>
                <a:spcPts val="2859"/>
              </a:lnSpc>
            </a:pPr>
          </a:p>
          <a:p>
            <a:pPr algn="ctr">
              <a:lnSpc>
                <a:spcPts val="2859"/>
              </a:lnSpc>
            </a:pPr>
          </a:p>
          <a:p>
            <a:pPr algn="ctr">
              <a:lnSpc>
                <a:spcPts val="2859"/>
              </a:lnSpc>
            </a:pPr>
          </a:p>
          <a:p>
            <a:pPr algn="ctr">
              <a:lnSpc>
                <a:spcPts val="28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8215" y="1028700"/>
            <a:ext cx="497981" cy="482589"/>
          </a:xfrm>
          <a:custGeom>
            <a:avLst/>
            <a:gdLst/>
            <a:ahLst/>
            <a:cxnLst/>
            <a:rect r="r" b="b" t="t" l="l"/>
            <a:pathLst>
              <a:path h="482589" w="497981">
                <a:moveTo>
                  <a:pt x="0" y="0"/>
                </a:moveTo>
                <a:lnTo>
                  <a:pt x="497982" y="0"/>
                </a:lnTo>
                <a:lnTo>
                  <a:pt x="497982" y="482589"/>
                </a:lnTo>
                <a:lnTo>
                  <a:pt x="0" y="4825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3176834"/>
            <a:ext cx="3657600" cy="437782"/>
          </a:xfrm>
          <a:custGeom>
            <a:avLst/>
            <a:gdLst/>
            <a:ahLst/>
            <a:cxnLst/>
            <a:rect r="r" b="b" t="t" l="l"/>
            <a:pathLst>
              <a:path h="437782" w="3657600">
                <a:moveTo>
                  <a:pt x="0" y="0"/>
                </a:moveTo>
                <a:lnTo>
                  <a:pt x="3657600" y="0"/>
                </a:lnTo>
                <a:lnTo>
                  <a:pt x="3657600" y="437782"/>
                </a:lnTo>
                <a:lnTo>
                  <a:pt x="0" y="4377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837556" y="4148016"/>
            <a:ext cx="12217532" cy="5709600"/>
          </a:xfrm>
          <a:custGeom>
            <a:avLst/>
            <a:gdLst/>
            <a:ahLst/>
            <a:cxnLst/>
            <a:rect r="r" b="b" t="t" l="l"/>
            <a:pathLst>
              <a:path h="5709600" w="12217532">
                <a:moveTo>
                  <a:pt x="0" y="0"/>
                </a:moveTo>
                <a:lnTo>
                  <a:pt x="12217532" y="0"/>
                </a:lnTo>
                <a:lnTo>
                  <a:pt x="12217532" y="5709599"/>
                </a:lnTo>
                <a:lnTo>
                  <a:pt x="0" y="57095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6176" t="-39744" r="-88638" b="-52536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676011" y="1097285"/>
            <a:ext cx="9417822" cy="1546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3"/>
              </a:lnSpc>
            </a:pPr>
            <a:r>
              <a:rPr lang="en-US" sz="8136">
                <a:solidFill>
                  <a:srgbClr val="5CE1E6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COMPARACIÓN GENERAL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36310" y="981075"/>
            <a:ext cx="2644981" cy="447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0"/>
              </a:lnSpc>
              <a:spcBef>
                <a:spcPct val="0"/>
              </a:spcBef>
            </a:pPr>
            <a:r>
              <a:rPr lang="en-US" sz="2629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Upa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433609" y="996309"/>
            <a:ext cx="124295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Services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016343" y="996309"/>
            <a:ext cx="124295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About Us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98800" y="2650144"/>
            <a:ext cx="3657600" cy="437782"/>
          </a:xfrm>
          <a:custGeom>
            <a:avLst/>
            <a:gdLst/>
            <a:ahLst/>
            <a:cxnLst/>
            <a:rect r="r" b="b" t="t" l="l"/>
            <a:pathLst>
              <a:path h="437782" w="3657600">
                <a:moveTo>
                  <a:pt x="0" y="0"/>
                </a:moveTo>
                <a:lnTo>
                  <a:pt x="3657600" y="0"/>
                </a:lnTo>
                <a:lnTo>
                  <a:pt x="3657600" y="437782"/>
                </a:lnTo>
                <a:lnTo>
                  <a:pt x="0" y="4377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62998" y="813952"/>
            <a:ext cx="1131405" cy="676500"/>
          </a:xfrm>
          <a:custGeom>
            <a:avLst/>
            <a:gdLst/>
            <a:ahLst/>
            <a:cxnLst/>
            <a:rect r="r" b="b" t="t" l="l"/>
            <a:pathLst>
              <a:path h="676500" w="1131405">
                <a:moveTo>
                  <a:pt x="0" y="0"/>
                </a:moveTo>
                <a:lnTo>
                  <a:pt x="1131404" y="0"/>
                </a:lnTo>
                <a:lnTo>
                  <a:pt x="1131404" y="676500"/>
                </a:lnTo>
                <a:lnTo>
                  <a:pt x="0" y="6765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67243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918816" y="570412"/>
            <a:ext cx="9908372" cy="655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7"/>
              </a:lnSpc>
            </a:pPr>
            <a:r>
              <a:rPr lang="en-US" sz="6300">
                <a:solidFill>
                  <a:srgbClr val="5CE1E6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FUNCIONES LAMBDA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36310" y="981075"/>
            <a:ext cx="2644981" cy="447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0"/>
              </a:lnSpc>
              <a:spcBef>
                <a:spcPct val="0"/>
              </a:spcBef>
            </a:pPr>
            <a:r>
              <a:rPr lang="en-US" sz="2629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UPA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433609" y="996309"/>
            <a:ext cx="124295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Services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016343" y="996309"/>
            <a:ext cx="124295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About Us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57137" y="4407768"/>
            <a:ext cx="6540103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spc="-9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Comparación entre paradigmas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08979" y="1440497"/>
            <a:ext cx="9518209" cy="3505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4"/>
              </a:lnSpc>
            </a:pPr>
            <a:r>
              <a:rPr lang="en-US" sz="2157" spc="-6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Una función lambda es una función anónima (sin nombre) que se define en una sola línea y se utiliza principalmente para operaciones cortas o simples. En programación funcional, las lambdas son fundamentales porque permiten crear funciones pequeñas y reutilizables de manera rápida, sin necesidad de declarar una función completa.</a:t>
            </a:r>
          </a:p>
          <a:p>
            <a:pPr algn="l">
              <a:lnSpc>
                <a:spcPts val="2804"/>
              </a:lnSpc>
            </a:pPr>
            <a:r>
              <a:rPr lang="en-US" sz="2157" spc="-6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En Python, se definen con la palabra clave lambda, seguida de los parámetros y una expresión que devuelve el valor calculado.</a:t>
            </a:r>
          </a:p>
          <a:p>
            <a:pPr algn="l">
              <a:lnSpc>
                <a:spcPts val="2804"/>
              </a:lnSpc>
            </a:pPr>
          </a:p>
          <a:p>
            <a:pPr algn="l">
              <a:lnSpc>
                <a:spcPts val="2804"/>
              </a:lnSpc>
            </a:pPr>
          </a:p>
          <a:p>
            <a:pPr algn="l">
              <a:lnSpc>
                <a:spcPts val="280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77780" y="4936088"/>
            <a:ext cx="7801791" cy="2167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0"/>
              </a:lnSpc>
            </a:pPr>
            <a:r>
              <a:rPr lang="en-US" sz="3300" spc="-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lambda x: x + 1</a:t>
            </a:r>
          </a:p>
          <a:p>
            <a:pPr algn="l">
              <a:lnSpc>
                <a:spcPts val="4290"/>
              </a:lnSpc>
            </a:pPr>
            <a:r>
              <a:rPr lang="en-US" sz="3300" spc="-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Esta función toma un valor x y devuelve x + 1.</a:t>
            </a:r>
          </a:p>
          <a:p>
            <a:pPr algn="l">
              <a:lnSpc>
                <a:spcPts val="429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7026" y="4240128"/>
            <a:ext cx="4748808" cy="705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0"/>
              </a:lnSpc>
              <a:spcBef>
                <a:spcPct val="0"/>
              </a:spcBef>
            </a:pPr>
            <a:r>
              <a:rPr lang="en-US" sz="4100" spc="-12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Ejemplo en Python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068083" y="5252257"/>
            <a:ext cx="8625796" cy="4258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7"/>
              </a:lnSpc>
            </a:pPr>
            <a:r>
              <a:rPr lang="en-US" sz="1744" spc="-5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Paradigma funcional:</a:t>
            </a:r>
          </a:p>
          <a:p>
            <a:pPr algn="ctr">
              <a:lnSpc>
                <a:spcPts val="2267"/>
              </a:lnSpc>
            </a:pPr>
            <a:r>
              <a:rPr lang="en-US" sz="1744" spc="-5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Las lambdas son una herramienta esencial para expresar transformaciones rápidas y puras, sin necesidad de usar variables externas o modificar el estado del programa. Representan la idea de tratar las funciones como valores, algo central en la programación funcional.</a:t>
            </a:r>
          </a:p>
          <a:p>
            <a:pPr algn="ctr">
              <a:lnSpc>
                <a:spcPts val="2267"/>
              </a:lnSpc>
            </a:pPr>
          </a:p>
          <a:p>
            <a:pPr algn="ctr">
              <a:lnSpc>
                <a:spcPts val="2267"/>
              </a:lnSpc>
            </a:pPr>
            <a:r>
              <a:rPr lang="en-US" sz="1744" spc="-5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Paradigma imperativo:</a:t>
            </a:r>
          </a:p>
          <a:p>
            <a:pPr algn="ctr">
              <a:lnSpc>
                <a:spcPts val="2267"/>
              </a:lnSpc>
            </a:pPr>
            <a:r>
              <a:rPr lang="en-US" sz="1744" spc="-5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En este paradigma se prefiere definir funciones de forma explícita o usar bucles tradicionales para realizar operaciones. La prioridad está en el “cómo” hacer las cosas, paso a paso.</a:t>
            </a:r>
          </a:p>
          <a:p>
            <a:pPr algn="ctr">
              <a:lnSpc>
                <a:spcPts val="2267"/>
              </a:lnSpc>
            </a:pPr>
          </a:p>
          <a:p>
            <a:pPr algn="ctr">
              <a:lnSpc>
                <a:spcPts val="2267"/>
              </a:lnSpc>
            </a:pPr>
            <a:r>
              <a:rPr lang="en-US" sz="1744" spc="-5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Paradigma orientado a objetos (OOP):</a:t>
            </a:r>
          </a:p>
          <a:p>
            <a:pPr algn="ctr">
              <a:lnSpc>
                <a:spcPts val="2267"/>
              </a:lnSpc>
              <a:spcBef>
                <a:spcPct val="0"/>
              </a:spcBef>
            </a:pPr>
            <a:r>
              <a:rPr lang="en-US" sz="1744" spc="-5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Las lambdas pueden utilizarse, pero el enfoque principal está en los métodos dentro de clases. Suelen verse más en callbacks (funciones que se pasan como argumento) o expresiones cortas.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-7456" y="6632517"/>
            <a:ext cx="7852545" cy="1431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90"/>
              </a:lnSpc>
              <a:spcBef>
                <a:spcPct val="0"/>
              </a:spcBef>
            </a:pPr>
            <a:r>
              <a:rPr lang="en-US" sz="4136" spc="-124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Ejemplo comparativo:</a:t>
            </a:r>
          </a:p>
          <a:p>
            <a:pPr algn="l" marL="0" indent="0" lvl="0">
              <a:lnSpc>
                <a:spcPts val="5790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77780" y="7075403"/>
            <a:ext cx="8754542" cy="3122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</a:p>
          <a:p>
            <a:pPr algn="l">
              <a:lnSpc>
                <a:spcPts val="3119"/>
              </a:lnSpc>
            </a:pP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Funcional: map(lambda x: x + 1, lista)</a:t>
            </a:r>
          </a:p>
          <a:p>
            <a:pPr algn="l">
              <a:lnSpc>
                <a:spcPts val="3119"/>
              </a:lnSpc>
            </a:pP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Imperativo: for i in range(len(lista)):</a:t>
            </a:r>
          </a:p>
          <a:p>
            <a:pPr algn="l">
              <a:lnSpc>
                <a:spcPts val="3119"/>
              </a:lnSpc>
            </a:pP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   lista[i] += 1</a:t>
            </a:r>
          </a:p>
          <a:p>
            <a:pPr algn="l">
              <a:lnSpc>
                <a:spcPts val="3119"/>
              </a:lnSpc>
            </a:pP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OOP: objeto.transformar(lambda x: x + 1) (si el método lo permite)</a:t>
            </a:r>
          </a:p>
          <a:p>
            <a:pPr algn="ctr">
              <a:lnSpc>
                <a:spcPts val="3119"/>
              </a:lnSpc>
            </a:pPr>
          </a:p>
          <a:p>
            <a:pPr algn="ctr">
              <a:lnSpc>
                <a:spcPts val="31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8215" y="3026198"/>
            <a:ext cx="3657600" cy="437782"/>
          </a:xfrm>
          <a:custGeom>
            <a:avLst/>
            <a:gdLst/>
            <a:ahLst/>
            <a:cxnLst/>
            <a:rect r="r" b="b" t="t" l="l"/>
            <a:pathLst>
              <a:path h="437782" w="3657600">
                <a:moveTo>
                  <a:pt x="0" y="0"/>
                </a:moveTo>
                <a:lnTo>
                  <a:pt x="3657600" y="0"/>
                </a:lnTo>
                <a:lnTo>
                  <a:pt x="3657600" y="437782"/>
                </a:lnTo>
                <a:lnTo>
                  <a:pt x="0" y="4377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67455" y="620749"/>
            <a:ext cx="1322490" cy="815901"/>
          </a:xfrm>
          <a:custGeom>
            <a:avLst/>
            <a:gdLst/>
            <a:ahLst/>
            <a:cxnLst/>
            <a:rect r="r" b="b" t="t" l="l"/>
            <a:pathLst>
              <a:path h="815901" w="1322490">
                <a:moveTo>
                  <a:pt x="0" y="0"/>
                </a:moveTo>
                <a:lnTo>
                  <a:pt x="1322490" y="0"/>
                </a:lnTo>
                <a:lnTo>
                  <a:pt x="1322490" y="815902"/>
                </a:lnTo>
                <a:lnTo>
                  <a:pt x="0" y="8159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62089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67455" y="7198808"/>
            <a:ext cx="9144000" cy="2955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3"/>
              </a:lnSpc>
            </a:pPr>
            <a:r>
              <a:rPr lang="en-US" sz="8136">
                <a:solidFill>
                  <a:srgbClr val="5CE1E6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ALCANCE LÉXICO (LEXICAL SCOPE)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36310" y="981075"/>
            <a:ext cx="2644981" cy="447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0"/>
              </a:lnSpc>
              <a:spcBef>
                <a:spcPct val="0"/>
              </a:spcBef>
            </a:pPr>
            <a:r>
              <a:rPr lang="en-US" sz="2629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UPA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34620" y="4940113"/>
            <a:ext cx="5789358" cy="507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9"/>
              </a:lnSpc>
            </a:pPr>
            <a:r>
              <a:rPr lang="en-US" sz="1745" spc="-5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Paradigma funcional:</a:t>
            </a:r>
          </a:p>
          <a:p>
            <a:pPr algn="l">
              <a:lnSpc>
                <a:spcPts val="2269"/>
              </a:lnSpc>
            </a:pPr>
            <a:r>
              <a:rPr lang="en-US" sz="1745" spc="-5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El alcance léxico es fundamental porque permite la creación de closures, funciones que pueden capturar y usar variables de su entorno sin necesidad de modificarlas globalmente. Esto promueve la inmutabilidad y el código limpio.</a:t>
            </a:r>
          </a:p>
          <a:p>
            <a:pPr algn="l">
              <a:lnSpc>
                <a:spcPts val="2269"/>
              </a:lnSpc>
            </a:pPr>
          </a:p>
          <a:p>
            <a:pPr algn="l">
              <a:lnSpc>
                <a:spcPts val="2269"/>
              </a:lnSpc>
            </a:pPr>
            <a:r>
              <a:rPr lang="en-US" sz="1745" spc="-5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Paradigma imperativo:</a:t>
            </a:r>
          </a:p>
          <a:p>
            <a:pPr algn="l">
              <a:lnSpc>
                <a:spcPts val="2269"/>
              </a:lnSpc>
            </a:pPr>
            <a:r>
              <a:rPr lang="en-US" sz="1745" spc="-5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El enfoque es más explícito: se suelen pasar los valores como parámetros o usar variables globales. Aunque existe el concepto de alcance, no se aprovecha tanto como en el paradigma funcional.</a:t>
            </a:r>
          </a:p>
          <a:p>
            <a:pPr algn="l">
              <a:lnSpc>
                <a:spcPts val="2269"/>
              </a:lnSpc>
            </a:pPr>
          </a:p>
          <a:p>
            <a:pPr algn="l">
              <a:lnSpc>
                <a:spcPts val="2269"/>
              </a:lnSpc>
            </a:pPr>
            <a:r>
              <a:rPr lang="en-US" sz="1745" spc="-5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Paradigma orientado a objetos:</a:t>
            </a:r>
          </a:p>
          <a:p>
            <a:pPr algn="l">
              <a:lnSpc>
                <a:spcPts val="2269"/>
              </a:lnSpc>
            </a:pPr>
            <a:r>
              <a:rPr lang="en-US" sz="1745" spc="-5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El contexto se maneja mediante el objeto mismo (self). Las variables y métodos pertenecen a una instancia, y el alcance léxico se reemplaza por el uso de atributos y métodos.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655757" y="3701228"/>
            <a:ext cx="4603543" cy="886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 spc="-78">
                <a:solidFill>
                  <a:srgbClr val="5CE1E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comparación con los otros paradigmas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68028" y="1294578"/>
            <a:ext cx="5266764" cy="4860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000" spc="-6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El alcance léxico (o lexical scope) determina qué variables están disponibles dentro de una función, según el lugar donde fue definida, no donde es ejecutada.</a:t>
            </a:r>
          </a:p>
          <a:p>
            <a:pPr algn="l">
              <a:lnSpc>
                <a:spcPts val="2600"/>
              </a:lnSpc>
            </a:pPr>
            <a:r>
              <a:rPr lang="en-US" sz="2000" spc="-6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Esto significa que una función puede “recordar” el contexto en el que fue creada, y acceder a las variables que estaban en su entorno en ese momento.</a:t>
            </a:r>
          </a:p>
          <a:p>
            <a:pPr algn="l">
              <a:lnSpc>
                <a:spcPts val="2600"/>
              </a:lnSpc>
            </a:pPr>
          </a:p>
          <a:p>
            <a:pPr algn="l">
              <a:lnSpc>
                <a:spcPts val="2600"/>
              </a:lnSpc>
            </a:pPr>
            <a:r>
              <a:rPr lang="en-US" sz="2000" spc="-6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En Python, el alcance léxico se basa en la estructura del código. Si una función interna está dentro de otra, puede acceder a las variables de la función externa, siempre que se encuentren visibles en el momento de la definición.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268028" y="751517"/>
            <a:ext cx="2904694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 spc="-65">
                <a:solidFill>
                  <a:srgbClr val="5CE1E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Concepto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370274" y="450527"/>
            <a:ext cx="317450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 spc="-60">
                <a:solidFill>
                  <a:srgbClr val="5CE1E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Ejemplo comparativo: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62849" y="902412"/>
            <a:ext cx="5789358" cy="1716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30"/>
              </a:lnSpc>
            </a:pPr>
            <a:r>
              <a:rPr lang="en-US" sz="2100" spc="-6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Funcional: crear_multiplicador(2)(5) → usa entorno léxico.</a:t>
            </a:r>
          </a:p>
          <a:p>
            <a:pPr algn="just">
              <a:lnSpc>
                <a:spcPts val="2730"/>
              </a:lnSpc>
            </a:pPr>
            <a:r>
              <a:rPr lang="en-US" sz="2100" spc="-6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Imperativo: def multiplicar(x, factor): return x * factor</a:t>
            </a:r>
          </a:p>
          <a:p>
            <a:pPr algn="just">
              <a:lnSpc>
                <a:spcPts val="2730"/>
              </a:lnSpc>
            </a:pPr>
            <a:r>
              <a:rPr lang="en-US" sz="2100" spc="-6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OOP: objeto.factor = 2  objeto.multiplicar(5)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98800" y="2650144"/>
            <a:ext cx="3657600" cy="437782"/>
          </a:xfrm>
          <a:custGeom>
            <a:avLst/>
            <a:gdLst/>
            <a:ahLst/>
            <a:cxnLst/>
            <a:rect r="r" b="b" t="t" l="l"/>
            <a:pathLst>
              <a:path h="437782" w="3657600">
                <a:moveTo>
                  <a:pt x="0" y="0"/>
                </a:moveTo>
                <a:lnTo>
                  <a:pt x="3657600" y="0"/>
                </a:lnTo>
                <a:lnTo>
                  <a:pt x="3657600" y="437782"/>
                </a:lnTo>
                <a:lnTo>
                  <a:pt x="0" y="4377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62998" y="813952"/>
            <a:ext cx="1131405" cy="676500"/>
          </a:xfrm>
          <a:custGeom>
            <a:avLst/>
            <a:gdLst/>
            <a:ahLst/>
            <a:cxnLst/>
            <a:rect r="r" b="b" t="t" l="l"/>
            <a:pathLst>
              <a:path h="676500" w="1131405">
                <a:moveTo>
                  <a:pt x="0" y="0"/>
                </a:moveTo>
                <a:lnTo>
                  <a:pt x="1131404" y="0"/>
                </a:lnTo>
                <a:lnTo>
                  <a:pt x="1131404" y="676500"/>
                </a:lnTo>
                <a:lnTo>
                  <a:pt x="0" y="6765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67243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146716" y="649153"/>
            <a:ext cx="9908372" cy="841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3"/>
              </a:lnSpc>
            </a:pPr>
            <a:r>
              <a:rPr lang="en-US" sz="8136">
                <a:solidFill>
                  <a:srgbClr val="5CE1E6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CLOSURES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36310" y="981075"/>
            <a:ext cx="2644981" cy="447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0"/>
              </a:lnSpc>
              <a:spcBef>
                <a:spcPct val="0"/>
              </a:spcBef>
            </a:pPr>
            <a:r>
              <a:rPr lang="en-US" sz="2629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UPA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433609" y="996309"/>
            <a:ext cx="124295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Services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016343" y="996309"/>
            <a:ext cx="124295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About Us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19711" y="5672358"/>
            <a:ext cx="8833862" cy="4431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3"/>
              </a:lnSpc>
            </a:pPr>
            <a:r>
              <a:rPr lang="en-US" sz="2033" spc="-61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Paradigma funcional:</a:t>
            </a:r>
          </a:p>
          <a:p>
            <a:pPr algn="l">
              <a:lnSpc>
                <a:spcPts val="2693"/>
              </a:lnSpc>
            </a:pPr>
            <a:r>
              <a:rPr lang="en-US" sz="2071" spc="-6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Los closures son una herramienta natural para mantener estado sin recurrir a mutabilidad externa. Se utilizan para crear funciones personalizadas con contexto propio, favoreciendo la modularidad y reutilización.</a:t>
            </a:r>
          </a:p>
          <a:p>
            <a:pPr algn="l">
              <a:lnSpc>
                <a:spcPts val="3194"/>
              </a:lnSpc>
            </a:pPr>
            <a:r>
              <a:rPr lang="en-US" sz="2457" spc="-73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Paradigma imperativo:</a:t>
            </a:r>
          </a:p>
          <a:p>
            <a:pPr algn="l">
              <a:lnSpc>
                <a:spcPts val="2693"/>
              </a:lnSpc>
            </a:pPr>
            <a:r>
              <a:rPr lang="en-US" sz="2071" spc="-6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Normalmente se usarían variables globales o estructuras externas (listas, diccionarios, etc.) para mantener el estado. Aunque pueden hacerse closures, no son tan comunes.</a:t>
            </a:r>
          </a:p>
          <a:p>
            <a:pPr algn="l">
              <a:lnSpc>
                <a:spcPts val="2533"/>
              </a:lnSpc>
            </a:pPr>
            <a:r>
              <a:rPr lang="en-US" sz="1948" spc="-58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Paradigma orientado a objetos:</a:t>
            </a:r>
          </a:p>
          <a:p>
            <a:pPr algn="l">
              <a:lnSpc>
                <a:spcPts val="2693"/>
              </a:lnSpc>
            </a:pPr>
            <a:r>
              <a:rPr lang="en-US" sz="2071" spc="-6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El estado se encapsula dentro de objetos. Un closure sería equivalente a un método de clase que conserva valores a través de atributos (self).</a:t>
            </a:r>
          </a:p>
          <a:p>
            <a:pPr algn="l">
              <a:lnSpc>
                <a:spcPts val="2693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8966591" y="4963063"/>
            <a:ext cx="6540103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spc="-9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Comparación entre paradigmas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41399" y="1660213"/>
            <a:ext cx="10791949" cy="3840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630" spc="-7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Un closure es una función que recuerda el entorno en el que fue creada, incluso después de que dicho entorno haya terminado de ejecutarse.</a:t>
            </a:r>
          </a:p>
          <a:p>
            <a:pPr algn="l">
              <a:lnSpc>
                <a:spcPts val="3419"/>
              </a:lnSpc>
            </a:pPr>
            <a:r>
              <a:rPr lang="en-US" sz="2630" spc="-7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Esto es posible gracias al alcance léxico.</a:t>
            </a:r>
          </a:p>
          <a:p>
            <a:pPr algn="l">
              <a:lnSpc>
                <a:spcPts val="3419"/>
              </a:lnSpc>
            </a:pPr>
            <a:r>
              <a:rPr lang="en-US" sz="2630" spc="-7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Los closures permiten encapsular un estado o valor sin necesidad de usar clases ni variables globales, lo que los hace muy útiles para crear funciones personalizadas y con memoria interna.</a:t>
            </a:r>
          </a:p>
          <a:p>
            <a:pPr algn="l">
              <a:lnSpc>
                <a:spcPts val="3419"/>
              </a:lnSpc>
            </a:pPr>
          </a:p>
          <a:p>
            <a:pPr algn="l">
              <a:lnSpc>
                <a:spcPts val="341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0" y="5333268"/>
            <a:ext cx="7819711" cy="4684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08"/>
              </a:lnSpc>
            </a:pPr>
          </a:p>
          <a:p>
            <a:pPr algn="just">
              <a:lnSpc>
                <a:spcPts val="3108"/>
              </a:lnSpc>
            </a:pPr>
          </a:p>
          <a:p>
            <a:pPr algn="just">
              <a:lnSpc>
                <a:spcPts val="3108"/>
              </a:lnSpc>
            </a:pPr>
            <a:r>
              <a:rPr lang="en-US" sz="2391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Funcional:</a:t>
            </a:r>
          </a:p>
          <a:p>
            <a:pPr algn="just">
              <a:lnSpc>
                <a:spcPts val="3108"/>
              </a:lnSpc>
            </a:pPr>
            <a:r>
              <a:rPr lang="en-US" sz="2391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def crear_acumulador():</a:t>
            </a:r>
          </a:p>
          <a:p>
            <a:pPr algn="just">
              <a:lnSpc>
                <a:spcPts val="3108"/>
              </a:lnSpc>
            </a:pPr>
            <a:r>
              <a:rPr lang="en-US" sz="2391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   total = 0</a:t>
            </a:r>
          </a:p>
          <a:p>
            <a:pPr algn="just">
              <a:lnSpc>
                <a:spcPts val="3108"/>
              </a:lnSpc>
            </a:pPr>
            <a:r>
              <a:rPr lang="en-US" sz="2391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   def acumular():</a:t>
            </a:r>
          </a:p>
          <a:p>
            <a:pPr algn="just">
              <a:lnSpc>
                <a:spcPts val="3108"/>
              </a:lnSpc>
            </a:pPr>
            <a:r>
              <a:rPr lang="en-US" sz="2391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       nonlocal total</a:t>
            </a:r>
          </a:p>
          <a:p>
            <a:pPr algn="just">
              <a:lnSpc>
                <a:spcPts val="3108"/>
              </a:lnSpc>
            </a:pPr>
            <a:r>
              <a:rPr lang="en-US" sz="2391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       total += 1</a:t>
            </a:r>
          </a:p>
          <a:p>
            <a:pPr algn="just">
              <a:lnSpc>
                <a:spcPts val="3108"/>
              </a:lnSpc>
            </a:pPr>
            <a:r>
              <a:rPr lang="en-US" sz="2391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       return total</a:t>
            </a:r>
          </a:p>
          <a:p>
            <a:pPr algn="just">
              <a:lnSpc>
                <a:spcPts val="3108"/>
              </a:lnSpc>
            </a:pPr>
            <a:r>
              <a:rPr lang="en-US" sz="2391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   return acumular</a:t>
            </a:r>
          </a:p>
          <a:p>
            <a:pPr algn="just">
              <a:lnSpc>
                <a:spcPts val="3108"/>
              </a:lnSpc>
            </a:pPr>
          </a:p>
          <a:p>
            <a:pPr algn="just">
              <a:lnSpc>
                <a:spcPts val="3108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661254" y="5174836"/>
            <a:ext cx="5738874" cy="1429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sz="4100" spc="-123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Ejemplo comparativo:</a:t>
            </a:r>
          </a:p>
          <a:p>
            <a:pPr algn="l">
              <a:lnSpc>
                <a:spcPts val="5740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330000" y="8540230"/>
            <a:ext cx="4401382" cy="156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spc="-5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Imperativo:</a:t>
            </a:r>
          </a:p>
          <a:p>
            <a:pPr algn="ctr">
              <a:lnSpc>
                <a:spcPts val="2520"/>
              </a:lnSpc>
            </a:pPr>
            <a:r>
              <a:rPr lang="en-US" sz="1800" spc="-5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total = 0</a:t>
            </a:r>
          </a:p>
          <a:p>
            <a:pPr algn="ctr">
              <a:lnSpc>
                <a:spcPts val="2520"/>
              </a:lnSpc>
            </a:pPr>
            <a:r>
              <a:rPr lang="en-US" sz="1800" spc="-5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def acumular():</a:t>
            </a:r>
          </a:p>
          <a:p>
            <a:pPr algn="ctr">
              <a:lnSpc>
                <a:spcPts val="2520"/>
              </a:lnSpc>
            </a:pPr>
            <a:r>
              <a:rPr lang="en-US" sz="1800" spc="-5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   global total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spc="-5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   total += 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909856" y="6117549"/>
            <a:ext cx="2605995" cy="310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spc="-6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OOP:</a:t>
            </a:r>
          </a:p>
          <a:p>
            <a:pPr algn="ctr">
              <a:lnSpc>
                <a:spcPts val="3079"/>
              </a:lnSpc>
            </a:pPr>
            <a:r>
              <a:rPr lang="en-US" sz="2199" spc="-6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class Acumulador:</a:t>
            </a:r>
          </a:p>
          <a:p>
            <a:pPr algn="ctr">
              <a:lnSpc>
                <a:spcPts val="3079"/>
              </a:lnSpc>
            </a:pPr>
            <a:r>
              <a:rPr lang="en-US" sz="2199" spc="-6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   def __init__(self):</a:t>
            </a:r>
          </a:p>
          <a:p>
            <a:pPr algn="ctr">
              <a:lnSpc>
                <a:spcPts val="3079"/>
              </a:lnSpc>
            </a:pPr>
            <a:r>
              <a:rPr lang="en-US" sz="2199" spc="-6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       self.total = 0</a:t>
            </a:r>
          </a:p>
          <a:p>
            <a:pPr algn="ctr">
              <a:lnSpc>
                <a:spcPts val="3079"/>
              </a:lnSpc>
            </a:pPr>
            <a:r>
              <a:rPr lang="en-US" sz="2199" spc="-6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   def acumular(self):</a:t>
            </a:r>
          </a:p>
          <a:p>
            <a:pPr algn="ctr">
              <a:lnSpc>
                <a:spcPts val="3079"/>
              </a:lnSpc>
            </a:pPr>
            <a:r>
              <a:rPr lang="en-US" sz="2199" spc="-6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       self.total += 1</a:t>
            </a:r>
          </a:p>
          <a:p>
            <a:pPr algn="ctr">
              <a:lnSpc>
                <a:spcPts val="3079"/>
              </a:lnSpc>
            </a:pPr>
          </a:p>
          <a:p>
            <a:pPr algn="ctr">
              <a:lnSpc>
                <a:spcPts val="30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8215" y="1028700"/>
            <a:ext cx="497981" cy="482589"/>
          </a:xfrm>
          <a:custGeom>
            <a:avLst/>
            <a:gdLst/>
            <a:ahLst/>
            <a:cxnLst/>
            <a:rect r="r" b="b" t="t" l="l"/>
            <a:pathLst>
              <a:path h="482589" w="497981">
                <a:moveTo>
                  <a:pt x="0" y="0"/>
                </a:moveTo>
                <a:lnTo>
                  <a:pt x="497982" y="0"/>
                </a:lnTo>
                <a:lnTo>
                  <a:pt x="497982" y="482589"/>
                </a:lnTo>
                <a:lnTo>
                  <a:pt x="0" y="4825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3176834"/>
            <a:ext cx="3657600" cy="437782"/>
          </a:xfrm>
          <a:custGeom>
            <a:avLst/>
            <a:gdLst/>
            <a:ahLst/>
            <a:cxnLst/>
            <a:rect r="r" b="b" t="t" l="l"/>
            <a:pathLst>
              <a:path h="437782" w="3657600">
                <a:moveTo>
                  <a:pt x="0" y="0"/>
                </a:moveTo>
                <a:lnTo>
                  <a:pt x="3657600" y="0"/>
                </a:lnTo>
                <a:lnTo>
                  <a:pt x="3657600" y="437782"/>
                </a:lnTo>
                <a:lnTo>
                  <a:pt x="0" y="4377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388235" y="3395725"/>
            <a:ext cx="7390498" cy="6065561"/>
          </a:xfrm>
          <a:custGeom>
            <a:avLst/>
            <a:gdLst/>
            <a:ahLst/>
            <a:cxnLst/>
            <a:rect r="r" b="b" t="t" l="l"/>
            <a:pathLst>
              <a:path h="6065561" w="7390498">
                <a:moveTo>
                  <a:pt x="0" y="0"/>
                </a:moveTo>
                <a:lnTo>
                  <a:pt x="7390498" y="0"/>
                </a:lnTo>
                <a:lnTo>
                  <a:pt x="7390498" y="6065560"/>
                </a:lnTo>
                <a:lnTo>
                  <a:pt x="0" y="606556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1637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676011" y="1097285"/>
            <a:ext cx="9417822" cy="1546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3"/>
              </a:lnSpc>
            </a:pPr>
            <a:r>
              <a:rPr lang="en-US" sz="8136">
                <a:solidFill>
                  <a:srgbClr val="5CE1E6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COMPARACIÓN GENERAL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36310" y="981075"/>
            <a:ext cx="2644981" cy="447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0"/>
              </a:lnSpc>
              <a:spcBef>
                <a:spcPct val="0"/>
              </a:spcBef>
            </a:pPr>
            <a:r>
              <a:rPr lang="en-US" sz="2629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Upa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433609" y="996309"/>
            <a:ext cx="124295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Services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016343" y="996309"/>
            <a:ext cx="124295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About Us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31347" y="4102202"/>
            <a:ext cx="5524882" cy="2082597"/>
          </a:xfrm>
          <a:custGeom>
            <a:avLst/>
            <a:gdLst/>
            <a:ahLst/>
            <a:cxnLst/>
            <a:rect r="r" b="b" t="t" l="l"/>
            <a:pathLst>
              <a:path h="2082597" w="5524882">
                <a:moveTo>
                  <a:pt x="0" y="0"/>
                </a:moveTo>
                <a:lnTo>
                  <a:pt x="5524882" y="0"/>
                </a:lnTo>
                <a:lnTo>
                  <a:pt x="5524882" y="2082596"/>
                </a:lnTo>
                <a:lnTo>
                  <a:pt x="0" y="20825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65288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2994465" y="4102202"/>
            <a:ext cx="5524882" cy="2082597"/>
          </a:xfrm>
          <a:custGeom>
            <a:avLst/>
            <a:gdLst/>
            <a:ahLst/>
            <a:cxnLst/>
            <a:rect r="r" b="b" t="t" l="l"/>
            <a:pathLst>
              <a:path h="2082597" w="5524882">
                <a:moveTo>
                  <a:pt x="5524882" y="0"/>
                </a:moveTo>
                <a:lnTo>
                  <a:pt x="0" y="0"/>
                </a:lnTo>
                <a:lnTo>
                  <a:pt x="0" y="2082596"/>
                </a:lnTo>
                <a:lnTo>
                  <a:pt x="5524882" y="2082596"/>
                </a:lnTo>
                <a:lnTo>
                  <a:pt x="552488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65288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8820518"/>
            <a:ext cx="3657600" cy="437782"/>
          </a:xfrm>
          <a:custGeom>
            <a:avLst/>
            <a:gdLst/>
            <a:ahLst/>
            <a:cxnLst/>
            <a:rect r="r" b="b" t="t" l="l"/>
            <a:pathLst>
              <a:path h="437782" w="3657600">
                <a:moveTo>
                  <a:pt x="0" y="0"/>
                </a:moveTo>
                <a:lnTo>
                  <a:pt x="3657600" y="0"/>
                </a:lnTo>
                <a:lnTo>
                  <a:pt x="3657600" y="437782"/>
                </a:lnTo>
                <a:lnTo>
                  <a:pt x="0" y="4377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3601700" y="8820518"/>
            <a:ext cx="3657600" cy="437782"/>
          </a:xfrm>
          <a:custGeom>
            <a:avLst/>
            <a:gdLst/>
            <a:ahLst/>
            <a:cxnLst/>
            <a:rect r="r" b="b" t="t" l="l"/>
            <a:pathLst>
              <a:path h="437782" w="3657600">
                <a:moveTo>
                  <a:pt x="3657600" y="0"/>
                </a:moveTo>
                <a:lnTo>
                  <a:pt x="0" y="0"/>
                </a:lnTo>
                <a:lnTo>
                  <a:pt x="0" y="437782"/>
                </a:lnTo>
                <a:lnTo>
                  <a:pt x="3657600" y="437782"/>
                </a:lnTo>
                <a:lnTo>
                  <a:pt x="365760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4964258"/>
            <a:ext cx="517497" cy="358484"/>
          </a:xfrm>
          <a:custGeom>
            <a:avLst/>
            <a:gdLst/>
            <a:ahLst/>
            <a:cxnLst/>
            <a:rect r="r" b="b" t="t" l="l"/>
            <a:pathLst>
              <a:path h="358484" w="517497">
                <a:moveTo>
                  <a:pt x="0" y="0"/>
                </a:moveTo>
                <a:lnTo>
                  <a:pt x="517497" y="0"/>
                </a:lnTo>
                <a:lnTo>
                  <a:pt x="517497" y="358484"/>
                </a:lnTo>
                <a:lnTo>
                  <a:pt x="0" y="3584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6741803" y="4964258"/>
            <a:ext cx="517497" cy="358484"/>
          </a:xfrm>
          <a:custGeom>
            <a:avLst/>
            <a:gdLst/>
            <a:ahLst/>
            <a:cxnLst/>
            <a:rect r="r" b="b" t="t" l="l"/>
            <a:pathLst>
              <a:path h="358484" w="517497">
                <a:moveTo>
                  <a:pt x="517497" y="0"/>
                </a:moveTo>
                <a:lnTo>
                  <a:pt x="0" y="0"/>
                </a:lnTo>
                <a:lnTo>
                  <a:pt x="0" y="358484"/>
                </a:lnTo>
                <a:lnTo>
                  <a:pt x="517497" y="358484"/>
                </a:lnTo>
                <a:lnTo>
                  <a:pt x="517497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047735" y="1222267"/>
            <a:ext cx="1547549" cy="821781"/>
          </a:xfrm>
          <a:custGeom>
            <a:avLst/>
            <a:gdLst/>
            <a:ahLst/>
            <a:cxnLst/>
            <a:rect r="r" b="b" t="t" l="l"/>
            <a:pathLst>
              <a:path h="821781" w="1547549">
                <a:moveTo>
                  <a:pt x="0" y="0"/>
                </a:moveTo>
                <a:lnTo>
                  <a:pt x="1547549" y="0"/>
                </a:lnTo>
                <a:lnTo>
                  <a:pt x="1547549" y="821781"/>
                </a:lnTo>
                <a:lnTo>
                  <a:pt x="0" y="82178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-88316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188433" y="4055050"/>
            <a:ext cx="13911134" cy="1957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88"/>
              </a:lnSpc>
              <a:spcBef>
                <a:spcPct val="0"/>
              </a:spcBef>
            </a:pPr>
            <a:r>
              <a:rPr lang="en-US" sz="11420">
                <a:solidFill>
                  <a:srgbClr val="5CE1E6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GRACIAS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21510" y="1609289"/>
            <a:ext cx="2644981" cy="434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80"/>
              </a:lnSpc>
              <a:spcBef>
                <a:spcPct val="0"/>
              </a:spcBef>
            </a:pPr>
            <a:r>
              <a:rPr lang="en-US" sz="2629">
                <a:solidFill>
                  <a:srgbClr val="FFFFFF"/>
                </a:solidFill>
                <a:latin typeface="RQND Pro UltraWide"/>
                <a:ea typeface="RQND Pro UltraWide"/>
                <a:cs typeface="RQND Pro UltraWide"/>
                <a:sym typeface="RQND Pro UltraWide"/>
              </a:rPr>
              <a:t>UPA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DAG3vvR19fE</dc:identifier>
  <dcterms:modified xsi:type="dcterms:W3CDTF">2011-08-01T06:04:30Z</dcterms:modified>
  <cp:revision>1</cp:revision>
  <dc:title>Blue and Black Futuristic Technology Company Presentation</dc:title>
</cp:coreProperties>
</file>